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24384000" cy="13716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Slide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1201320" y="11859840"/>
            <a:ext cx="21971520" cy="637200"/>
          </a:xfrm>
          <a:custGeom>
            <a:avLst/>
            <a:gdLst/>
            <a:ahLst/>
            <a:rect l="0" t="0" r="r" b="b"/>
            <a:pathLst>
              <a:path w="61032" h="1770">
                <a:moveTo>
                  <a:pt x="0" y="0"/>
                </a:moveTo>
                <a:lnTo>
                  <a:pt x="61032" y="0"/>
                </a:lnTo>
                <a:lnTo>
                  <a:pt x="61032" y="1770"/>
                </a:lnTo>
                <a:lnTo>
                  <a:pt x="0" y="177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Slide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"/>
          <p:cNvSpPr/>
          <p:nvPr/>
        </p:nvSpPr>
        <p:spPr>
          <a:xfrm>
            <a:off x="1206360" y="2373120"/>
            <a:ext cx="21971520" cy="935280"/>
          </a:xfrm>
          <a:custGeom>
            <a:avLst/>
            <a:gdLst/>
            <a:ahLst/>
            <a:rect l="0" t="0" r="r" b="b"/>
            <a:pathLst>
              <a:path w="61032" h="2598">
                <a:moveTo>
                  <a:pt x="0" y="0"/>
                </a:moveTo>
                <a:lnTo>
                  <a:pt x="61032" y="0"/>
                </a:lnTo>
                <a:lnTo>
                  <a:pt x="61032" y="2598"/>
                </a:lnTo>
                <a:lnTo>
                  <a:pt x="0" y="259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 txBox="1"/>
          <p:nvPr/>
        </p:nvSpPr>
        <p:spPr>
          <a:xfrm>
            <a:off x="1206360" y="2575080"/>
            <a:ext cx="21971160" cy="4648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rmAutofit/>
          </a:bodyPr>
          <a:p>
            <a:pPr>
              <a:lnSpc>
                <a:spcPct val="80000"/>
              </a:lnSpc>
            </a:pPr>
            <a:r>
              <a:rPr lang="en-US" sz="11600" b="1" u="none" spc="-232" strike="noStrike">
                <a:solidFill>
                  <a:srgbClr val="000000"/>
                </a:solidFill>
                <a:effectLst/>
                <a:uFillTx/>
                <a:latin typeface="HelveticaNeue-Bold"/>
                <a:ea typeface="HelveticaNeue-Bold"/>
              </a:rPr>
              <a:t>Мобильное приложение для прослушивания музыки по типу погоды </a:t>
            </a:r>
            <a:endParaRPr lang="en-US" sz="1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1201320" y="7223040"/>
            <a:ext cx="21971160" cy="1905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r>
              <a:rPr lang="en-US" sz="3800" b="0" u="none" strike="noStrike">
                <a:solidFill>
                  <a:srgbClr val="000000"/>
                </a:solidFill>
                <a:effectLst/>
                <a:uFillTx/>
                <a:latin typeface="HelveticaNeue-Medium"/>
                <a:ea typeface="HelveticaNeue-Medium"/>
              </a:rPr>
              <a:t>«Wethersong»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1201320" y="11859840"/>
            <a:ext cx="21971160" cy="636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r>
              <a:rPr lang="en-US" sz="3600" b="1" u="none" strike="noStrike">
                <a:solidFill>
                  <a:srgbClr val="000000"/>
                </a:solidFill>
                <a:effectLst/>
                <a:uFillTx/>
                <a:latin typeface="HelveticaNeue-Bold"/>
                <a:ea typeface="HelveticaNeue-Bold"/>
              </a:rPr>
              <a:t>Разработкой занимались: А. Голубев и А. Дворянинов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 txBox="1"/>
          <p:nvPr/>
        </p:nvSpPr>
        <p:spPr>
          <a:xfrm>
            <a:off x="843120" y="1077480"/>
            <a:ext cx="12326760" cy="532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pPr>
              <a:lnSpc>
                <a:spcPct val="80000"/>
              </a:lnSpc>
            </a:pPr>
            <a:r>
              <a:rPr lang="en-US" sz="8500" b="1" u="none" spc="-170" strike="noStrike">
                <a:solidFill>
                  <a:srgbClr val="000000"/>
                </a:solidFill>
                <a:effectLst/>
                <a:uFillTx/>
                <a:latin typeface="HelveticaNeue-Bold"/>
                <a:ea typeface="HelveticaNeue-Bold"/>
              </a:rPr>
              <a:t>Фундаментом приложения является экран выбора погоды</a:t>
            </a:r>
            <a:endParaRPr lang="en-US" sz="8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885600" y="5096520"/>
            <a:ext cx="11890080" cy="677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r>
              <a:rPr lang="en-US" sz="3600" b="1" u="none" strike="noStrike">
                <a:solidFill>
                  <a:srgbClr val="000000"/>
                </a:solidFill>
                <a:effectLst/>
                <a:uFillTx/>
                <a:latin typeface="HelveticaNeue-Bold"/>
                <a:ea typeface="HelveticaNeue-Bold"/>
              </a:rPr>
              <a:t>Приложение не измеряет получает данные о погоде в вашем регионе автоматически, это было сделано для того чтобы даже в солнечную погоду вы могли погрустить под любимые песни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" name=""/>
          <p:cNvPicPr/>
          <p:nvPr/>
        </p:nvPicPr>
        <p:blipFill>
          <a:blip r:embed="rId1"/>
          <a:stretch/>
        </p:blipFill>
        <p:spPr>
          <a:xfrm>
            <a:off x="14317560" y="1181880"/>
            <a:ext cx="5240880" cy="11352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 txBox="1"/>
          <p:nvPr/>
        </p:nvSpPr>
        <p:spPr>
          <a:xfrm>
            <a:off x="915840" y="2626560"/>
            <a:ext cx="21971160" cy="11499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pPr>
              <a:lnSpc>
                <a:spcPct val="90000"/>
              </a:lnSpc>
              <a:spcBef>
                <a:spcPts val="4501"/>
              </a:spcBef>
            </a:pPr>
            <a:r>
              <a:rPr lang="en-US" sz="6000" b="1" u="none" strike="noStrike">
                <a:solidFill>
                  <a:srgbClr val="000000"/>
                </a:solidFill>
                <a:effectLst/>
                <a:uFillTx/>
                <a:latin typeface="HelveticaNeue"/>
                <a:ea typeface="HelveticaNeue"/>
              </a:rPr>
              <a:t>Проблема</a:t>
            </a:r>
            <a:r>
              <a:rPr lang="en-US" sz="4800" b="0" u="none" strike="noStrike">
                <a:solidFill>
                  <a:srgbClr val="000000"/>
                </a:solidFill>
                <a:effectLst/>
                <a:uFillTx/>
                <a:latin typeface="HelveticaNeue"/>
                <a:ea typeface="HelveticaNeue"/>
              </a:rPr>
              <a:t> - бывают моменты когда хочется послушать счастливую и жизнерадостную музыку в солнечную погоду, но включается депрессивный мотив из своего плэйлиста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4501"/>
              </a:spcBef>
            </a:pPr>
            <a:r>
              <a:rPr lang="en-US" sz="6000" b="1" u="none" strike="noStrike">
                <a:solidFill>
                  <a:srgbClr val="000000"/>
                </a:solidFill>
                <a:effectLst/>
                <a:uFillTx/>
                <a:latin typeface="HelveticaNeue"/>
                <a:ea typeface="HelveticaNeue"/>
              </a:rPr>
              <a:t>Решение</a:t>
            </a:r>
            <a:r>
              <a:rPr lang="en-US" sz="4800" b="0" u="none" strike="noStrike">
                <a:solidFill>
                  <a:srgbClr val="000000"/>
                </a:solidFill>
                <a:effectLst/>
                <a:uFillTx/>
                <a:latin typeface="HelveticaNeue"/>
                <a:ea typeface="HelveticaNeue"/>
              </a:rPr>
              <a:t> - приложение позволяющее прослушать музыку определенного жанра исходя из погоды на улице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4501"/>
              </a:spcBef>
            </a:pPr>
            <a:r>
              <a:rPr lang="en-US" sz="6000" b="1" u="none" strike="noStrike">
                <a:solidFill>
                  <a:srgbClr val="000000"/>
                </a:solidFill>
                <a:effectLst/>
                <a:uFillTx/>
                <a:latin typeface="HelveticaNeue"/>
                <a:ea typeface="HelveticaNeue"/>
              </a:rPr>
              <a:t>Цель проекта</a:t>
            </a:r>
            <a:r>
              <a:rPr lang="en-US" sz="4800" b="0" u="none" strike="noStrike">
                <a:solidFill>
                  <a:srgbClr val="000000"/>
                </a:solidFill>
                <a:effectLst/>
                <a:uFillTx/>
                <a:latin typeface="HelveticaNeue"/>
                <a:ea typeface="HelveticaNeue"/>
              </a:rPr>
              <a:t> - создать приложение плейлист по погоде с функцией прослушивания песен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 txBox="1"/>
          <p:nvPr/>
        </p:nvSpPr>
        <p:spPr>
          <a:xfrm>
            <a:off x="1206360" y="1079640"/>
            <a:ext cx="12055680" cy="10446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pPr>
              <a:lnSpc>
                <a:spcPct val="80000"/>
              </a:lnSpc>
            </a:pPr>
            <a:r>
              <a:rPr lang="en-US" sz="8500" b="1" u="none" spc="-170" strike="noStrike">
                <a:solidFill>
                  <a:srgbClr val="000000"/>
                </a:solidFill>
                <a:effectLst/>
                <a:uFillTx/>
                <a:latin typeface="HelveticaNeue-Bold"/>
                <a:ea typeface="HelveticaNeue-Bold"/>
              </a:rPr>
              <a:t>После выбора погоды открывается меню выбора музыки подходящей для погоды </a:t>
            </a:r>
            <a:endParaRPr lang="en-US" sz="8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" name=""/>
          <p:cNvPicPr/>
          <p:nvPr/>
        </p:nvPicPr>
        <p:blipFill>
          <a:blip r:embed="rId1"/>
          <a:stretch/>
        </p:blipFill>
        <p:spPr>
          <a:xfrm>
            <a:off x="14936400" y="905400"/>
            <a:ext cx="5496120" cy="1190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"/>
          <p:cNvSpPr txBox="1"/>
          <p:nvPr/>
        </p:nvSpPr>
        <p:spPr>
          <a:xfrm>
            <a:off x="1185120" y="7156440"/>
            <a:ext cx="8105400" cy="2115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90000"/>
              </a:lnSpc>
              <a:spcBef>
                <a:spcPts val="4501"/>
              </a:spcBef>
            </a:pPr>
            <a:r>
              <a:rPr lang="en-US" sz="4800" b="1" u="none" strike="noStrike">
                <a:solidFill>
                  <a:srgbClr val="000000"/>
                </a:solidFill>
                <a:effectLst/>
                <a:uFillTx/>
                <a:latin typeface="HelveticaNeue-Bold"/>
                <a:ea typeface="HelveticaNeue-Bold"/>
              </a:rPr>
              <a:t>Приложение имеет функцию прослушивания песен в фоновом режиме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 txBox="1"/>
          <p:nvPr/>
        </p:nvSpPr>
        <p:spPr>
          <a:xfrm>
            <a:off x="1206360" y="1079640"/>
            <a:ext cx="21971160" cy="1433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pPr>
              <a:lnSpc>
                <a:spcPct val="80000"/>
              </a:lnSpc>
            </a:pPr>
            <a:r>
              <a:rPr lang="en-US" sz="8500" b="1" u="none" spc="-170" strike="noStrike">
                <a:solidFill>
                  <a:srgbClr val="000000"/>
                </a:solidFill>
                <a:effectLst/>
                <a:uFillTx/>
                <a:latin typeface="HelveticaNeue-Bold"/>
                <a:ea typeface="HelveticaNeue-Bold"/>
              </a:rPr>
              <a:t>Техническая реализация:</a:t>
            </a:r>
            <a:endParaRPr lang="en-US" sz="8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1182240" y="3123720"/>
            <a:ext cx="8017560" cy="4275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r>
              <a:rPr lang="en-US" sz="5500" b="1" u="none" strike="noStrike">
                <a:solidFill>
                  <a:srgbClr val="000000"/>
                </a:solidFill>
                <a:effectLst/>
                <a:uFillTx/>
                <a:latin typeface="HelveticaNeue-Bold"/>
                <a:ea typeface="HelveticaNeue-Bold"/>
              </a:rPr>
              <a:t>Все приложение было написано на swift</a:t>
            </a:r>
            <a:endParaRPr lang="en-US" sz="5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" name=""/>
          <p:cNvPicPr/>
          <p:nvPr/>
        </p:nvPicPr>
        <p:blipFill>
          <a:blip r:embed="rId1"/>
          <a:stretch/>
        </p:blipFill>
        <p:spPr>
          <a:xfrm>
            <a:off x="14775480" y="4515840"/>
            <a:ext cx="7715160" cy="7721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"/>
          <p:cNvSpPr txBox="1"/>
          <p:nvPr/>
        </p:nvSpPr>
        <p:spPr>
          <a:xfrm>
            <a:off x="988560" y="789120"/>
            <a:ext cx="21971160" cy="1433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pPr>
              <a:lnSpc>
                <a:spcPct val="80000"/>
              </a:lnSpc>
            </a:pPr>
            <a:r>
              <a:rPr lang="en-US" sz="8500" b="1" u="none" spc="-170" strike="noStrike">
                <a:solidFill>
                  <a:srgbClr val="000000"/>
                </a:solidFill>
                <a:effectLst/>
                <a:uFillTx/>
                <a:latin typeface="HelveticaNeue-Bold"/>
                <a:ea typeface="HelveticaNeue-Bold"/>
              </a:rPr>
              <a:t>Итог</a:t>
            </a:r>
            <a:endParaRPr lang="en-US" sz="8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1085400" y="2729880"/>
            <a:ext cx="10077120" cy="825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r>
              <a:rPr lang="en-US" sz="3500" b="1" u="none" strike="noStrike">
                <a:solidFill>
                  <a:srgbClr val="000000"/>
                </a:solidFill>
                <a:effectLst/>
                <a:uFillTx/>
                <a:latin typeface="HelveticaNeue"/>
                <a:ea typeface="HelveticaNeue"/>
              </a:rPr>
              <a:t>Итогом нашей работы стало создание гибкого, масштабируемого приложения для свободного использования. Мы распределяли задачи так, чтобы каждый мог проявить свои лучшие качества и знания, и эта командная работа помогла нам сделать этот проект.</a:t>
            </a:r>
            <a:endParaRPr lang="en-US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"/>
          <p:cNvSpPr txBox="1"/>
          <p:nvPr/>
        </p:nvSpPr>
        <p:spPr>
          <a:xfrm>
            <a:off x="1206360" y="1079640"/>
            <a:ext cx="21971160" cy="1433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pPr>
              <a:lnSpc>
                <a:spcPct val="80000"/>
              </a:lnSpc>
            </a:pPr>
            <a:r>
              <a:rPr lang="en-US" sz="8500" b="1" u="none" spc="-170" strike="noStrike">
                <a:solidFill>
                  <a:srgbClr val="000000"/>
                </a:solidFill>
                <a:effectLst/>
                <a:uFillTx/>
                <a:latin typeface="HelveticaNeue-Bold"/>
                <a:ea typeface="HelveticaNeue-Bold"/>
              </a:rPr>
              <a:t>Ссылка на гит хаб</a:t>
            </a:r>
            <a:endParaRPr lang="en-US" sz="8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" name=""/>
          <p:cNvPicPr/>
          <p:nvPr/>
        </p:nvPicPr>
        <p:blipFill>
          <a:blip r:embed="rId1"/>
          <a:stretch/>
        </p:blipFill>
        <p:spPr>
          <a:xfrm>
            <a:off x="13808880" y="919800"/>
            <a:ext cx="9890640" cy="989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"/>
          <p:cNvSpPr txBox="1"/>
          <p:nvPr/>
        </p:nvSpPr>
        <p:spPr>
          <a:xfrm>
            <a:off x="1257840" y="2966760"/>
            <a:ext cx="10348200" cy="808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90000"/>
              </a:lnSpc>
              <a:spcBef>
                <a:spcPts val="4501"/>
              </a:spcBef>
            </a:pPr>
            <a:r>
              <a:rPr lang="en-US" sz="4800" b="0" u="none" strike="noStrike">
                <a:solidFill>
                  <a:srgbClr val="000000"/>
                </a:solidFill>
                <a:effectLst/>
                <a:uFillTx/>
                <a:latin typeface="HelveticaNeue"/>
                <a:ea typeface="HelveticaNeue"/>
              </a:rPr>
              <a:t>https://github.com/sstrg/weatherising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"/>
          <p:cNvSpPr txBox="1"/>
          <p:nvPr/>
        </p:nvSpPr>
        <p:spPr>
          <a:xfrm>
            <a:off x="1206360" y="1079640"/>
            <a:ext cx="21971160" cy="1433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pPr>
              <a:lnSpc>
                <a:spcPct val="80000"/>
              </a:lnSpc>
            </a:pPr>
            <a:r>
              <a:rPr lang="en-US" sz="8500" b="1" u="none" spc="-170" strike="noStrike">
                <a:solidFill>
                  <a:srgbClr val="000000"/>
                </a:solidFill>
                <a:effectLst/>
                <a:uFillTx/>
                <a:latin typeface="HelveticaNeue-Bold"/>
                <a:ea typeface="HelveticaNeue-Bold"/>
              </a:rPr>
              <a:t>Спасибо за внимание</a:t>
            </a:r>
            <a:endParaRPr lang="en-US" sz="8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1330560" y="2436840"/>
            <a:ext cx="3957120" cy="771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90000"/>
              </a:lnSpc>
              <a:spcBef>
                <a:spcPts val="4501"/>
              </a:spcBef>
            </a:pPr>
            <a:r>
              <a:rPr lang="en-US" sz="4500" b="0" u="none" strike="noStrike">
                <a:solidFill>
                  <a:srgbClr val="000000"/>
                </a:solidFill>
                <a:effectLst/>
                <a:uFillTx/>
                <a:latin typeface="HelveticaNeue"/>
                <a:ea typeface="HelveticaNeue"/>
              </a:rPr>
              <a:t>Мы старались</a:t>
            </a:r>
            <a:endParaRPr lang="en-US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